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8.png" ContentType="image/png"/>
  <Override PartName="/ppt/media/image1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C4D0BF7-3807-4186-BF6D-67690CE06C7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603067-458E-43E8-8FD3-C6D4540A71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9A0FC9-4893-4CA8-93E8-68026FC10D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91B74D-6BBB-4384-95AF-D76B8F5450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99C60-D403-4056-944A-3B5FC1A1A8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7AE58F-1248-4979-A50D-59AB50D400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06DB05-D606-4187-A8DC-F8D8F9E4EB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7F0C20-2C9A-4D93-ACDA-CC4609ECB8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BE200A-F63E-457A-AFCE-2C86594BB1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E0BD23-C3C7-4FF7-8BC2-95B71C2D3A6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1FAE4F-C6CE-4E22-A179-3BFB3038F9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DF872-C462-40A7-9749-B0F7EA5980E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068240" y="121608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068240" y="297180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702480" y="158184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458200" y="158184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7374600" y="121608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7374600" y="297180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702480" y="188820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458200" y="188820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7680960" y="121608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7680960" y="297180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702480" y="219456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458200" y="219456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987320" y="121608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987320" y="297180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702480" y="250092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458200" y="250092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8293680" y="121608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293680" y="2971800"/>
            <a:ext cx="109440" cy="200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702480" y="280728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458200" y="2807280"/>
            <a:ext cx="200880" cy="109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903720" y="1417320"/>
            <a:ext cx="1554120" cy="1554120"/>
          </a:xfrm>
          <a:prstGeom prst="roundRect">
            <a:avLst>
              <a:gd name="adj" fmla="val 7059"/>
            </a:avLst>
          </a:prstGeom>
          <a:solidFill>
            <a:srgbClr val="183049"/>
          </a:solidFill>
          <a:ln w="22225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7323480" y="1837080"/>
            <a:ext cx="714600" cy="714600"/>
          </a:xfrm>
          <a:prstGeom prst="rect">
            <a:avLst/>
          </a:prstGeom>
          <a:ln w="0">
            <a:noFill/>
          </a:ln>
        </p:spPr>
      </p:pic>
      <p:sp>
        <p:nvSpPr>
          <p:cNvPr id="30" name="Shape 21"/>
          <p:cNvSpPr/>
          <p:nvPr/>
        </p:nvSpPr>
        <p:spPr>
          <a:xfrm>
            <a:off x="6126480" y="338328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8321040" y="868680"/>
            <a:ext cx="118440" cy="118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548640" y="105156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2d3ee"/>
                </a:solidFill>
                <a:latin typeface="Trebuchet MS"/>
                <a:ea typeface="Trebuchet MS"/>
              </a:rPr>
              <a:t>WORKSHOP · EDGE DEVICES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502920" y="1325880"/>
            <a:ext cx="585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Trebuchet MS"/>
                <a:ea typeface="Trebuchet MS"/>
              </a:rPr>
              <a:t>Edge Computing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548640" y="233172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22d3ee"/>
                </a:solidFill>
                <a:latin typeface="Trebuchet MS"/>
                <a:ea typeface="Trebuchet MS"/>
              </a:rPr>
              <a:t>Tiny computers, big possibilities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548640" y="2880360"/>
            <a:ext cx="5394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cbd5e1"/>
                </a:solidFill>
                <a:latin typeface="Calibri"/>
                <a:ea typeface="Calibri"/>
              </a:rPr>
              <a:t>Single-board computers, microcontrollers, and the things you can build with them.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567000" y="4160520"/>
            <a:ext cx="45360" cy="456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731520" y="4114800"/>
            <a:ext cx="5486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Part 1: Presentation (10–15 min)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94a3b8"/>
                </a:solidFill>
                <a:latin typeface="Calibri"/>
                <a:ea typeface="Calibri"/>
              </a:rPr>
              <a:t>Part 2: Hands-on workshop (10–15 min)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THE BIG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What is edge computing?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548640" y="1417320"/>
            <a:ext cx="8046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4155"/>
                </a:solidFill>
                <a:latin typeface="Calibri"/>
                <a:ea typeface="Calibri"/>
              </a:rPr>
              <a:t>Doing the processing </a:t>
            </a:r>
            <a:r>
              <a:rPr b="1" lang="en-US" sz="1600" spc="-1" strike="noStrike">
                <a:solidFill>
                  <a:srgbClr val="0d9488"/>
                </a:solidFill>
                <a:latin typeface="Calibri"/>
                <a:ea typeface="Calibri"/>
              </a:rPr>
              <a:t>near where the data is created</a:t>
            </a:r>
            <a:r>
              <a:rPr b="0" lang="en-US" sz="1600" spc="-1" strike="noStrike">
                <a:solidFill>
                  <a:srgbClr val="334155"/>
                </a:solidFill>
                <a:latin typeface="Calibri"/>
                <a:ea typeface="Calibri"/>
              </a:rPr>
              <a:t> (on small devices at the “edge” of the network) instead of sending everything to a distant cloud server. </a:t>
            </a:r>
            <a:r>
              <a:rPr b="1" lang="en-US" sz="1600" spc="-1" strike="noStrike">
                <a:solidFill>
                  <a:srgbClr val="1e293b"/>
                </a:solidFill>
                <a:latin typeface="Calibri"/>
                <a:ea typeface="Calibri"/>
              </a:rPr>
              <a:t>These little computers are the edge.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48640" y="2541960"/>
            <a:ext cx="1874160" cy="20570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1175040" y="2797920"/>
            <a:ext cx="621360" cy="6213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1342800" y="296604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44" name="Text 5"/>
          <p:cNvSpPr/>
          <p:nvPr/>
        </p:nvSpPr>
        <p:spPr>
          <a:xfrm>
            <a:off x="658440" y="352944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93b"/>
                </a:solidFill>
                <a:latin typeface="Trebuchet MS"/>
                <a:ea typeface="Trebuchet MS"/>
              </a:rPr>
              <a:t>Low latency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694800" y="3867840"/>
            <a:ext cx="158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No round-trip to a server, so responses are instant.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7"/>
          <p:cNvSpPr/>
          <p:nvPr/>
        </p:nvSpPr>
        <p:spPr>
          <a:xfrm>
            <a:off x="2587680" y="2541960"/>
            <a:ext cx="1874160" cy="20570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3214080" y="2797920"/>
            <a:ext cx="621360" cy="6213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Image 1" descr="preencoded.png"/>
          <p:cNvPicPr/>
          <p:nvPr/>
        </p:nvPicPr>
        <p:blipFill>
          <a:blip r:embed="rId2"/>
          <a:stretch/>
        </p:blipFill>
        <p:spPr>
          <a:xfrm>
            <a:off x="3381840" y="296604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49" name="Text 9"/>
          <p:cNvSpPr/>
          <p:nvPr/>
        </p:nvSpPr>
        <p:spPr>
          <a:xfrm>
            <a:off x="2697480" y="352944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93b"/>
                </a:solidFill>
                <a:latin typeface="Trebuchet MS"/>
                <a:ea typeface="Trebuchet MS"/>
              </a:rPr>
              <a:t>Less bandwidth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2734200" y="3867840"/>
            <a:ext cx="158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Only useful results get sent onward.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4626720" y="2541960"/>
            <a:ext cx="1874160" cy="20570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5253120" y="2797920"/>
            <a:ext cx="621360" cy="6213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" name="Image 2" descr="preencoded.png"/>
          <p:cNvPicPr/>
          <p:nvPr/>
        </p:nvPicPr>
        <p:blipFill>
          <a:blip r:embed="rId3"/>
          <a:stretch/>
        </p:blipFill>
        <p:spPr>
          <a:xfrm>
            <a:off x="5421240" y="296604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54" name="Text 13"/>
          <p:cNvSpPr/>
          <p:nvPr/>
        </p:nvSpPr>
        <p:spPr>
          <a:xfrm>
            <a:off x="4736520" y="352944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93b"/>
                </a:solidFill>
                <a:latin typeface="Trebuchet MS"/>
                <a:ea typeface="Trebuchet MS"/>
              </a:rPr>
              <a:t>Works offline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773240" y="3867840"/>
            <a:ext cx="158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Keeps running with no internet.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6666120" y="2541960"/>
            <a:ext cx="1874160" cy="205704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7292520" y="2797920"/>
            <a:ext cx="621360" cy="6213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3" descr="preencoded.png"/>
          <p:cNvPicPr/>
          <p:nvPr/>
        </p:nvPicPr>
        <p:blipFill>
          <a:blip r:embed="rId4"/>
          <a:stretch/>
        </p:blipFill>
        <p:spPr>
          <a:xfrm>
            <a:off x="7460280" y="296604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59" name="Text 17"/>
          <p:cNvSpPr/>
          <p:nvPr/>
        </p:nvSpPr>
        <p:spPr>
          <a:xfrm>
            <a:off x="6775560" y="3529440"/>
            <a:ext cx="1654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93b"/>
                </a:solidFill>
                <a:latin typeface="Trebuchet MS"/>
                <a:ea typeface="Trebuchet MS"/>
              </a:rPr>
              <a:t>Privacy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6812280" y="3867840"/>
            <a:ext cx="1581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Raw data can stay on the device.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WHY IT MATTERS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What can you build with it?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48640" y="1463040"/>
            <a:ext cx="3931560" cy="26056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841320" y="175572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1004040" y="191844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66" name="Text 4"/>
          <p:cNvSpPr/>
          <p:nvPr/>
        </p:nvSpPr>
        <p:spPr>
          <a:xfrm>
            <a:off x="1572840" y="18471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Trebuchet MS"/>
                <a:ea typeface="Trebuchet MS"/>
              </a:rPr>
              <a:t>Digital arts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859680" y="2541960"/>
            <a:ext cx="33645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Interactive installations that react to people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Reactive lighting &amp; LED strips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Sound art driven by sensors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Kinetic &amp; responsive sculpture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663440" y="1463040"/>
            <a:ext cx="3931560" cy="260568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4956120" y="1755720"/>
            <a:ext cx="603000" cy="603000"/>
          </a:xfrm>
          <a:prstGeom prst="ellipse">
            <a:avLst/>
          </a:prstGeom>
          <a:solidFill>
            <a:srgbClr val="1830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Image 1" descr="preencoded.png"/>
          <p:cNvPicPr/>
          <p:nvPr/>
        </p:nvPicPr>
        <p:blipFill>
          <a:blip r:embed="rId2"/>
          <a:stretch/>
        </p:blipFill>
        <p:spPr>
          <a:xfrm>
            <a:off x="5118840" y="191844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71" name="Text 8"/>
          <p:cNvSpPr/>
          <p:nvPr/>
        </p:nvSpPr>
        <p:spPr>
          <a:xfrm>
            <a:off x="5687640" y="18471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Trebuchet MS"/>
                <a:ea typeface="Trebuchet MS"/>
              </a:rPr>
              <a:t>Software engineering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4974480" y="2541960"/>
            <a:ext cx="33645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IoT sensor networks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Distributed computing (Pi clusters)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Real-time control &amp; robotics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Machine learning on the device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548640" y="4224600"/>
            <a:ext cx="8046360" cy="566640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731520" y="42246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92400e"/>
                </a:solidFill>
                <a:latin typeface="Calibri"/>
                <a:ea typeface="Calibri"/>
              </a:rPr>
              <a:t>The common loop:  </a:t>
            </a:r>
            <a:r>
              <a:rPr b="0" lang="en-US" sz="1350" spc="-1" strike="noStrike">
                <a:solidFill>
                  <a:srgbClr val="92400e"/>
                </a:solidFill>
                <a:latin typeface="Calibri"/>
                <a:ea typeface="Calibri"/>
              </a:rPr>
              <a:t>sense something  →  decide  →  make something happen.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KNOW YOUR HARDWARE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Two kinds of device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48640" y="1417320"/>
            <a:ext cx="3931560" cy="246852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841320" y="16916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1004040" y="18547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80" name="Text 4"/>
          <p:cNvSpPr/>
          <p:nvPr/>
        </p:nvSpPr>
        <p:spPr>
          <a:xfrm>
            <a:off x="1572840" y="1654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e293b"/>
                </a:solidFill>
                <a:latin typeface="Trebuchet MS"/>
                <a:ea typeface="Trebuchet MS"/>
              </a:rPr>
              <a:t>Single-board computer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1572840" y="2020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d9488"/>
                </a:solidFill>
                <a:latin typeface="Calibri"/>
                <a:ea typeface="Calibri"/>
              </a:rPr>
              <a:t>Raspberry Pi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859680" y="2441520"/>
            <a:ext cx="3364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Runs a full operating system (Linux)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Boots like a PC; USB, HDMI, networking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Multitasks on heavy jobs: vision, servers, ML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7"/>
          <p:cNvSpPr/>
          <p:nvPr/>
        </p:nvSpPr>
        <p:spPr>
          <a:xfrm>
            <a:off x="4663440" y="1417320"/>
            <a:ext cx="3931560" cy="246852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4956120" y="16916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5118840" y="18547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86" name="Text 9"/>
          <p:cNvSpPr/>
          <p:nvPr/>
        </p:nvSpPr>
        <p:spPr>
          <a:xfrm>
            <a:off x="5687640" y="16549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e293b"/>
                </a:solidFill>
                <a:latin typeface="Trebuchet MS"/>
                <a:ea typeface="Trebuchet MS"/>
              </a:rPr>
              <a:t>Microcontroller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5687640" y="2020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d9488"/>
                </a:solidFill>
                <a:latin typeface="Calibri"/>
                <a:ea typeface="Calibri"/>
              </a:rPr>
              <a:t>Arduino · Raspberry Pi Pico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4974480" y="2441520"/>
            <a:ext cx="3364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No OS, just one program on bare metal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Instant-on, precise timing, tiny power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Cheap; ideal for reading sensors &amp; control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548640" y="4114800"/>
            <a:ext cx="8046360" cy="65808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731520" y="4114800"/>
            <a:ext cx="7680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92400e"/>
                </a:solidFill>
                <a:latin typeface="Calibri"/>
                <a:ea typeface="Calibri"/>
              </a:rPr>
              <a:t>Heads up:  </a:t>
            </a:r>
            <a:r>
              <a:rPr b="0" lang="en-US" sz="1300" spc="-1" strike="noStrike">
                <a:solidFill>
                  <a:srgbClr val="92400e"/>
                </a:solidFill>
                <a:latin typeface="Calibri"/>
                <a:ea typeface="Calibri"/>
              </a:rPr>
              <a:t>the Pi Pico is itself a microcontroller, and the ESP32 is a microcontroller with built-in Wi-Fi.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READING THE HEADER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What the pins mean &amp; do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48640" y="13716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GPIO = General Purpose Input / Output. </a:t>
            </a:r>
            <a:r>
              <a:rPr b="0" lang="en-US" sz="1400" spc="-1" strike="noStrike">
                <a:solidFill>
                  <a:srgbClr val="334155"/>
                </a:solidFill>
                <a:latin typeface="Calibri"/>
                <a:ea typeface="Calibri"/>
              </a:rPr>
              <a:t>Each pin is a connection you switch and read in software.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548640" y="18471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731520" y="2167200"/>
            <a:ext cx="200880" cy="20088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1051560" y="195696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Power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051560" y="22492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3.3V / 5V to power your parts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3300840" y="18471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3483720" y="2167200"/>
            <a:ext cx="200880" cy="200880"/>
          </a:xfrm>
          <a:prstGeom prst="ellipse">
            <a:avLst/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3803760" y="195696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Ground (GND)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3803760" y="22492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Completes the circuit at 0V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6053400" y="18471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6236280" y="2167200"/>
            <a:ext cx="200880" cy="200880"/>
          </a:xfrm>
          <a:prstGeom prst="ellipse">
            <a:avLst/>
          </a:prstGeom>
          <a:solidFill>
            <a:srgbClr val="81d4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6556320" y="195696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Digital I/O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556320" y="22492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On / off: read a button, drive an LED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548640" y="28713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6"/>
          <p:cNvSpPr/>
          <p:nvPr/>
        </p:nvSpPr>
        <p:spPr>
          <a:xfrm>
            <a:off x="731520" y="3191400"/>
            <a:ext cx="200880" cy="20088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1051560" y="298080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PWM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1051560" y="32734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Fakes analog: dim LEDs, motor &amp; servo speed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3300840" y="28713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0"/>
          <p:cNvSpPr/>
          <p:nvPr/>
        </p:nvSpPr>
        <p:spPr>
          <a:xfrm>
            <a:off x="3483720" y="3191400"/>
            <a:ext cx="200880" cy="200880"/>
          </a:xfrm>
          <a:prstGeom prst="ellipse">
            <a:avLst/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3803760" y="298080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I2C / SPI / UART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3803760" y="32734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A few wires to many sensors &amp; screens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6053400" y="2871360"/>
            <a:ext cx="2541600" cy="840960"/>
          </a:xfrm>
          <a:prstGeom prst="roundRect">
            <a:avLst>
              <a:gd name="adj" fmla="val 760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6236280" y="3191400"/>
            <a:ext cx="200880" cy="200880"/>
          </a:xfrm>
          <a:prstGeom prst="ellipse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6556320" y="2980800"/>
            <a:ext cx="190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93b"/>
                </a:solidFill>
                <a:latin typeface="Trebuchet MS"/>
                <a:ea typeface="Trebuchet MS"/>
              </a:rPr>
              <a:t>Analog in (ADC)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6556320" y="3273480"/>
            <a:ext cx="1901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64748b"/>
                </a:solidFill>
                <a:latin typeface="Calibri"/>
                <a:ea typeface="Calibri"/>
              </a:rPr>
              <a:t>Read a varying voltage: dials, light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7"/>
          <p:cNvSpPr/>
          <p:nvPr/>
        </p:nvSpPr>
        <p:spPr>
          <a:xfrm>
            <a:off x="548640" y="4224600"/>
            <a:ext cx="8046360" cy="566640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8"/>
          <p:cNvSpPr/>
          <p:nvPr/>
        </p:nvSpPr>
        <p:spPr>
          <a:xfrm>
            <a:off x="731520" y="42246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92400e"/>
                </a:solidFill>
                <a:latin typeface="Calibri"/>
                <a:ea typeface="Calibri"/>
              </a:rPr>
              <a:t>Two gotchas:  </a:t>
            </a:r>
            <a:r>
              <a:rPr b="0" lang="en-US" sz="1250" spc="-1" strike="noStrike">
                <a:solidFill>
                  <a:srgbClr val="92400e"/>
                </a:solidFill>
                <a:latin typeface="Calibri"/>
                <a:ea typeface="Calibri"/>
              </a:rPr>
              <a:t>mind voltage levels (3.3V vs 5V), and a plain Raspberry Pi has no analog input (only the Pico / Arduino do).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YOUR REFERENCE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Where the pins are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731520" y="3273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5760720" y="14814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d9488"/>
                </a:solidFill>
                <a:latin typeface="Trebuchet MS"/>
                <a:ea typeface="Trebuchet MS"/>
              </a:rPr>
              <a:t>How to read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5760720" y="1938600"/>
            <a:ext cx="28342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A pinout maps every physical pin to its job. Use it to find the right pin for power, ground, a digital signal, PWM, I2C / SPI, or analog input before you wire anything up.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5760720" y="3611880"/>
            <a:ext cx="2834280" cy="100548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5943600" y="3611880"/>
            <a:ext cx="2468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92400e"/>
                </a:solidFill>
                <a:latin typeface="Calibri"/>
                <a:ea typeface="Calibri"/>
              </a:rPr>
              <a:t>Use your board's own diagram: </a:t>
            </a:r>
            <a:r>
              <a:rPr b="0" lang="en-US" sz="1200" spc="-1" strike="noStrike">
                <a:solidFill>
                  <a:srgbClr val="92400e"/>
                </a:solidFill>
                <a:latin typeface="Calibri"/>
                <a:ea typeface="Calibri"/>
              </a:rPr>
              <a:t>Raspberry Pi, Pico, and Arduino each lay their pins out differently.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5107320" cy="376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BUILD WITHOUT SOLDERING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The breadboard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67000" y="161856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841320" y="15454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Power rails.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The long + (red) and − (blue) strips run the whole length, so every hole in a rail is connected.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567000" y="253296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841320" y="24598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Connected groups.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Short groups of holes are linked together, split by the center channel down the middle.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567000" y="344736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841320" y="3374280"/>
            <a:ext cx="3611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Just push it in.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Component legs and jumper wires push into the holes, so there's no soldering and it's easy to change.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4572000" y="4114800"/>
            <a:ext cx="4042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A connected group of 5 is highlighted in teal.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567000" y="4434840"/>
            <a:ext cx="45360" cy="3654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731520" y="440748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92400e"/>
                </a:solidFill>
                <a:latin typeface="Calibri"/>
                <a:ea typeface="Calibri"/>
              </a:rPr>
              <a:t>This is exactly what you'll wire up in the workshop.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4697280" y="1828800"/>
            <a:ext cx="3303720" cy="247788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4480200" y="1015200"/>
            <a:ext cx="4523040" cy="33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THE FUN PARTS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Sensors, outputs &amp; add-ons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548640" y="1417320"/>
            <a:ext cx="3931560" cy="242280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841320" y="1691640"/>
            <a:ext cx="566640" cy="5666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0" descr="preencoded.png"/>
          <p:cNvPicPr/>
          <p:nvPr/>
        </p:nvPicPr>
        <p:blipFill>
          <a:blip r:embed="rId1"/>
          <a:stretch/>
        </p:blipFill>
        <p:spPr>
          <a:xfrm>
            <a:off x="994320" y="1844640"/>
            <a:ext cx="260280" cy="260280"/>
          </a:xfrm>
          <a:prstGeom prst="rect">
            <a:avLst/>
          </a:prstGeom>
          <a:ln w="0">
            <a:noFill/>
          </a:ln>
        </p:spPr>
      </p:pic>
      <p:sp>
        <p:nvSpPr>
          <p:cNvPr id="146" name="Text 4"/>
          <p:cNvSpPr/>
          <p:nvPr/>
        </p:nvSpPr>
        <p:spPr>
          <a:xfrm>
            <a:off x="1517760" y="17283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e293b"/>
                </a:solidFill>
                <a:latin typeface="Trebuchet MS"/>
                <a:ea typeface="Trebuchet MS"/>
              </a:rPr>
              <a:t>Inputs: sensors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859680" y="2404800"/>
            <a:ext cx="3364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Light, motion (PIR), distance (ultrasonic)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Temperature &amp; humidity, sound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Dials (potentiometers) and buttons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4663440" y="1417320"/>
            <a:ext cx="3931560" cy="2422800"/>
          </a:xfrm>
          <a:prstGeom prst="roundRect">
            <a:avLst>
              <a:gd name="adj" fmla="val 3019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4956120" y="1691640"/>
            <a:ext cx="566640" cy="5666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2"/>
          <a:stretch/>
        </p:blipFill>
        <p:spPr>
          <a:xfrm>
            <a:off x="5109120" y="1844640"/>
            <a:ext cx="260280" cy="260280"/>
          </a:xfrm>
          <a:prstGeom prst="rect">
            <a:avLst/>
          </a:prstGeom>
          <a:ln w="0">
            <a:noFill/>
          </a:ln>
        </p:spPr>
      </p:pic>
      <p:sp>
        <p:nvSpPr>
          <p:cNvPr id="151" name="Text 8"/>
          <p:cNvSpPr/>
          <p:nvPr/>
        </p:nvSpPr>
        <p:spPr>
          <a:xfrm>
            <a:off x="5632560" y="1728360"/>
            <a:ext cx="2834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e293b"/>
                </a:solidFill>
                <a:latin typeface="Trebuchet MS"/>
                <a:ea typeface="Trebuchet MS"/>
              </a:rPr>
              <a:t>Outputs: actuators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4974480" y="2404800"/>
            <a:ext cx="3364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LEDs &amp; addressable RGB strips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Buzzers, speakers, servo &amp; DC motors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334155"/>
                </a:solidFill>
                <a:latin typeface="Calibri"/>
                <a:ea typeface="Calibri"/>
              </a:rPr>
              <a:t>Relays and small OLED screens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548640" y="4069080"/>
            <a:ext cx="8046360" cy="712800"/>
          </a:xfrm>
          <a:prstGeom prst="roundRect">
            <a:avLst>
              <a:gd name="adj" fmla="val 10256"/>
            </a:avLst>
          </a:prstGeom>
          <a:solidFill>
            <a:srgbClr val="0f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2" descr="preencoded.png"/>
          <p:cNvPicPr/>
          <p:nvPr/>
        </p:nvPicPr>
        <p:blipFill>
          <a:blip r:embed="rId3"/>
          <a:stretch/>
        </p:blipFill>
        <p:spPr>
          <a:xfrm>
            <a:off x="804600" y="42336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55" name="Text 11"/>
          <p:cNvSpPr/>
          <p:nvPr/>
        </p:nvSpPr>
        <p:spPr>
          <a:xfrm>
            <a:off x="1325880" y="4069080"/>
            <a:ext cx="7131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Calibri"/>
              </a:rPr>
              <a:t>HATs (Raspberry Pi) and shields (Arduino) </a:t>
            </a:r>
            <a:r>
              <a:rPr b="0" lang="en-US" sz="1300" spc="-1" strike="noStrike">
                <a:solidFill>
                  <a:srgbClr val="e2e8f0"/>
                </a:solidFill>
                <a:latin typeface="Calibri"/>
                <a:ea typeface="Calibri"/>
              </a:rPr>
              <a:t>plug straight onto the pins so you skip the wiring, e.g. the Sense HAT.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PUTTING IT TOGETHER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Three example circuits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8" name="Image 0" descr="preencoded.png"/>
          <p:cNvPicPr/>
          <p:nvPr/>
        </p:nvPicPr>
        <p:blipFill>
          <a:blip r:embed="rId1"/>
          <a:stretch/>
        </p:blipFill>
        <p:spPr>
          <a:xfrm>
            <a:off x="1572840" y="184716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159" name="Text 3"/>
          <p:cNvSpPr/>
          <p:nvPr/>
        </p:nvSpPr>
        <p:spPr>
          <a:xfrm>
            <a:off x="731520" y="2432160"/>
            <a:ext cx="2175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Add your circuit picture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548640" y="3145680"/>
            <a:ext cx="254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Trebuchet MS"/>
                <a:ea typeface="Trebuchet MS"/>
              </a:rPr>
              <a:t>Button  →  LED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03360" y="3493080"/>
            <a:ext cx="243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75569"/>
                </a:solidFill>
                <a:latin typeface="Calibri"/>
                <a:ea typeface="Calibri"/>
              </a:rPr>
              <a:t>Press the button and the LED turns on: a digital input switching a digital output, the simplest sense-and-act circuit.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1" descr="preencoded.png"/>
          <p:cNvPicPr/>
          <p:nvPr/>
        </p:nvPicPr>
        <p:blipFill>
          <a:blip r:embed="rId2"/>
          <a:stretch/>
        </p:blipFill>
        <p:spPr>
          <a:xfrm>
            <a:off x="4325040" y="184716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163" name="Text 7"/>
          <p:cNvSpPr/>
          <p:nvPr/>
        </p:nvSpPr>
        <p:spPr>
          <a:xfrm>
            <a:off x="3483720" y="2432160"/>
            <a:ext cx="2175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Add your circuit picture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3300840" y="3145680"/>
            <a:ext cx="254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Trebuchet MS"/>
                <a:ea typeface="Trebuchet MS"/>
              </a:rPr>
              <a:t>Dial  →  brightness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3355920" y="3493080"/>
            <a:ext cx="243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75569"/>
                </a:solidFill>
                <a:latin typeface="Calibri"/>
                <a:ea typeface="Calibri"/>
              </a:rPr>
              <a:t>Turn the potentiometer to fade the LED up and down: an analog input mapped to a varying output.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6053400" y="1444680"/>
            <a:ext cx="2541600" cy="157248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2" descr="preencoded.png"/>
          <p:cNvPicPr/>
          <p:nvPr/>
        </p:nvPicPr>
        <p:blipFill>
          <a:blip r:embed="rId3"/>
          <a:stretch/>
        </p:blipFill>
        <p:spPr>
          <a:xfrm>
            <a:off x="7077600" y="184716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168" name="Text 11"/>
          <p:cNvSpPr/>
          <p:nvPr/>
        </p:nvSpPr>
        <p:spPr>
          <a:xfrm>
            <a:off x="6236280" y="2432160"/>
            <a:ext cx="2175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Calibri"/>
                <a:ea typeface="Calibri"/>
              </a:rPr>
              <a:t>Add your circuit picture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6053400" y="3145680"/>
            <a:ext cx="2541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d9488"/>
                </a:solidFill>
                <a:latin typeface="Trebuchet MS"/>
                <a:ea typeface="Trebuchet MS"/>
              </a:rPr>
              <a:t>Sensor  →  micro  →  output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6108120" y="3493080"/>
            <a:ext cx="243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6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475569"/>
                </a:solidFill>
                <a:latin typeface="Calibri"/>
                <a:ea typeface="Calibri"/>
              </a:rPr>
              <a:t>A ultrasonic sensor tells a microcontroller how far away something is, and shows it on the screen. Sense, decide, act.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4"/>
          <a:stretch/>
        </p:blipFill>
        <p:spPr>
          <a:xfrm>
            <a:off x="685800" y="1302120"/>
            <a:ext cx="2423160" cy="1898280"/>
          </a:xfrm>
          <a:prstGeom prst="rect">
            <a:avLst/>
          </a:prstGeom>
          <a:ln w="0">
            <a:noFill/>
          </a:ln>
        </p:spPr>
      </p:pic>
      <p:pic>
        <p:nvPicPr>
          <p:cNvPr id="172" name="" descr=""/>
          <p:cNvPicPr/>
          <p:nvPr/>
        </p:nvPicPr>
        <p:blipFill>
          <a:blip r:embed="rId5"/>
          <a:stretch/>
        </p:blipFill>
        <p:spPr>
          <a:xfrm>
            <a:off x="3200400" y="1435680"/>
            <a:ext cx="2734200" cy="1764720"/>
          </a:xfrm>
          <a:prstGeom prst="rect">
            <a:avLst/>
          </a:prstGeom>
          <a:ln w="0">
            <a:noFill/>
          </a:ln>
        </p:spPr>
      </p:pic>
      <p:pic>
        <p:nvPicPr>
          <p:cNvPr id="173" name="" descr=""/>
          <p:cNvPicPr/>
          <p:nvPr/>
        </p:nvPicPr>
        <p:blipFill>
          <a:blip r:embed="rId6"/>
          <a:stretch/>
        </p:blipFill>
        <p:spPr>
          <a:xfrm>
            <a:off x="5257800" y="1435680"/>
            <a:ext cx="3657600" cy="166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4114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0d9488"/>
                </a:solidFill>
                <a:latin typeface="Trebuchet MS"/>
                <a:ea typeface="Trebuchet MS"/>
              </a:rPr>
              <a:t>INSPIRATION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71316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pc="-1" strike="noStrike">
                <a:solidFill>
                  <a:srgbClr val="1e293b"/>
                </a:solidFill>
                <a:latin typeface="Trebuchet MS"/>
                <a:ea typeface="Trebuchet MS"/>
              </a:rPr>
              <a:t>A few things people build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548640" y="1417320"/>
            <a:ext cx="3931560" cy="141696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822960" y="16916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Image 0" descr="preencoded.png"/>
          <p:cNvPicPr/>
          <p:nvPr/>
        </p:nvPicPr>
        <p:blipFill>
          <a:blip r:embed="rId1"/>
          <a:stretch/>
        </p:blipFill>
        <p:spPr>
          <a:xfrm>
            <a:off x="986040" y="18547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79" name="Text 4"/>
          <p:cNvSpPr/>
          <p:nvPr/>
        </p:nvSpPr>
        <p:spPr>
          <a:xfrm>
            <a:off x="1554480" y="1600200"/>
            <a:ext cx="1645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Reactive light installation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554480" y="216720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A motion sensor triggers patterns across an LED strip.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3401640" y="1618560"/>
            <a:ext cx="914040" cy="29232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3401640" y="16185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6e66"/>
                </a:solidFill>
                <a:latin typeface="Calibri"/>
                <a:ea typeface="Calibri"/>
              </a:rPr>
              <a:t>Arts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4663440" y="1417320"/>
            <a:ext cx="3931560" cy="141696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4937760" y="16916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" name="Image 1" descr="preencoded.png"/>
          <p:cNvPicPr/>
          <p:nvPr/>
        </p:nvPicPr>
        <p:blipFill>
          <a:blip r:embed="rId2"/>
          <a:stretch/>
        </p:blipFill>
        <p:spPr>
          <a:xfrm>
            <a:off x="5100840" y="18547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86" name="Text 10"/>
          <p:cNvSpPr/>
          <p:nvPr/>
        </p:nvSpPr>
        <p:spPr>
          <a:xfrm>
            <a:off x="5669280" y="1600200"/>
            <a:ext cx="1645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Sound sculpture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5669280" y="216720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A distance sensor changes pitch as people approach.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7516440" y="1618560"/>
            <a:ext cx="914040" cy="29232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7516440" y="16185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6e66"/>
                </a:solidFill>
                <a:latin typeface="Calibri"/>
                <a:ea typeface="Calibri"/>
              </a:rPr>
              <a:t>Arts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548640" y="3017520"/>
            <a:ext cx="3931560" cy="141696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822960" y="32918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Image 2" descr="preencoded.png"/>
          <p:cNvPicPr/>
          <p:nvPr/>
        </p:nvPicPr>
        <p:blipFill>
          <a:blip r:embed="rId3"/>
          <a:stretch/>
        </p:blipFill>
        <p:spPr>
          <a:xfrm>
            <a:off x="986040" y="34549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193" name="Text 16"/>
          <p:cNvSpPr/>
          <p:nvPr/>
        </p:nvSpPr>
        <p:spPr>
          <a:xfrm>
            <a:off x="1554480" y="3200400"/>
            <a:ext cx="1645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Environmental monitor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1554480" y="376740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Logs temperature &amp; air quality to a screen or dashboard.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3401640" y="3218760"/>
            <a:ext cx="914040" cy="29232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3401640" y="32187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6e66"/>
                </a:solidFill>
                <a:latin typeface="Calibri"/>
                <a:ea typeface="Calibri"/>
              </a:rPr>
              <a:t>IoT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0"/>
          <p:cNvSpPr/>
          <p:nvPr/>
        </p:nvSpPr>
        <p:spPr>
          <a:xfrm>
            <a:off x="4663440" y="3017520"/>
            <a:ext cx="3931560" cy="141696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algn="bl" blurRad="88920" dir="5400000" dist="38160" kx="0" ky="0" rotWithShape="0" sx="100000" sy="100000">
              <a:srgbClr val="0f172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4937760" y="3291840"/>
            <a:ext cx="603000" cy="603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9" name="Image 3" descr="preencoded.png"/>
          <p:cNvPicPr/>
          <p:nvPr/>
        </p:nvPicPr>
        <p:blipFill>
          <a:blip r:embed="rId4"/>
          <a:stretch/>
        </p:blipFill>
        <p:spPr>
          <a:xfrm>
            <a:off x="5100840" y="3454920"/>
            <a:ext cx="277200" cy="277200"/>
          </a:xfrm>
          <a:prstGeom prst="rect">
            <a:avLst/>
          </a:prstGeom>
          <a:ln w="0">
            <a:noFill/>
          </a:ln>
        </p:spPr>
      </p:pic>
      <p:sp>
        <p:nvSpPr>
          <p:cNvPr id="200" name="Text 22"/>
          <p:cNvSpPr/>
          <p:nvPr/>
        </p:nvSpPr>
        <p:spPr>
          <a:xfrm>
            <a:off x="5669280" y="3200400"/>
            <a:ext cx="16455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e293b"/>
                </a:solidFill>
                <a:latin typeface="Trebuchet MS"/>
                <a:ea typeface="Trebuchet MS"/>
              </a:rPr>
              <a:t>Edge-ML camera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3"/>
          <p:cNvSpPr/>
          <p:nvPr/>
        </p:nvSpPr>
        <p:spPr>
          <a:xfrm>
            <a:off x="5669280" y="376740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Detects objects or gestures live, with no internet needed.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24"/>
          <p:cNvSpPr/>
          <p:nvPr/>
        </p:nvSpPr>
        <p:spPr>
          <a:xfrm>
            <a:off x="7516440" y="3218760"/>
            <a:ext cx="914040" cy="29232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7516440" y="321876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b6e66"/>
                </a:solidFill>
                <a:latin typeface="Calibri"/>
                <a:ea typeface="Calibri"/>
              </a:rPr>
              <a:t>Engineering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0"/>
          <p:cNvSpPr/>
          <p:nvPr/>
        </p:nvSpPr>
        <p:spPr>
          <a:xfrm>
            <a:off x="8229600" y="457200"/>
            <a:ext cx="118440" cy="11844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"/>
          <p:cNvSpPr/>
          <p:nvPr/>
        </p:nvSpPr>
        <p:spPr>
          <a:xfrm>
            <a:off x="274320" y="442620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548640" y="914400"/>
            <a:ext cx="731160" cy="7311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1"/>
          <a:stretch/>
        </p:blipFill>
        <p:spPr>
          <a:xfrm>
            <a:off x="746280" y="1112040"/>
            <a:ext cx="336240" cy="336240"/>
          </a:xfrm>
          <a:prstGeom prst="rect">
            <a:avLst/>
          </a:prstGeom>
          <a:ln w="0">
            <a:noFill/>
          </a:ln>
        </p:spPr>
      </p:pic>
      <p:sp>
        <p:nvSpPr>
          <p:cNvPr id="208" name="Text 3"/>
          <p:cNvSpPr/>
          <p:nvPr/>
        </p:nvSpPr>
        <p:spPr>
          <a:xfrm>
            <a:off x="1463040" y="9511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2d3ee"/>
                </a:solidFill>
                <a:latin typeface="Trebuchet MS"/>
                <a:ea typeface="Trebuchet MS"/>
              </a:rPr>
              <a:t>HANDS-ON · NO CODE NEEDED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463040" y="12254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Trebuchet MS"/>
                <a:ea typeface="Trebuchet MS"/>
              </a:rPr>
              <a:t>Your turn: build it in Tinkercad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463040" y="1847160"/>
            <a:ext cx="7040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548640" y="2606040"/>
            <a:ext cx="1874160" cy="1416960"/>
          </a:xfrm>
          <a:prstGeom prst="roundRect">
            <a:avLst>
              <a:gd name="adj" fmla="val 5161"/>
            </a:avLst>
          </a:prstGeom>
          <a:solidFill>
            <a:srgbClr val="183049"/>
          </a:solidFill>
          <a:ln w="12700">
            <a:solidFill>
              <a:srgbClr val="2a4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749880" y="280728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74988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b2a"/>
                </a:solidFill>
                <a:latin typeface="Trebuchet MS"/>
                <a:ea typeface="Trebuchet MS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731520" y="3337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Trebuchet MS"/>
                <a:ea typeface="Trebuchet MS"/>
              </a:rPr>
              <a:t>Light an LED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731520" y="3611880"/>
            <a:ext cx="1545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Power, resistor, LED on the breadboard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2587680" y="2606040"/>
            <a:ext cx="1874160" cy="1416960"/>
          </a:xfrm>
          <a:prstGeom prst="roundRect">
            <a:avLst>
              <a:gd name="adj" fmla="val 5161"/>
            </a:avLst>
          </a:prstGeom>
          <a:solidFill>
            <a:srgbClr val="183049"/>
          </a:solidFill>
          <a:ln w="12700">
            <a:solidFill>
              <a:srgbClr val="2a4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2788920" y="280728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278892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b2a"/>
                </a:solidFill>
                <a:latin typeface="Trebuchet MS"/>
                <a:ea typeface="Trebuchet MS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2770560" y="3337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Trebuchet MS"/>
                <a:ea typeface="Trebuchet MS"/>
              </a:rPr>
              <a:t>Add a button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2770560" y="3611880"/>
            <a:ext cx="1545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The LED lights only when pressed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4626720" y="2606040"/>
            <a:ext cx="1874160" cy="1416960"/>
          </a:xfrm>
          <a:prstGeom prst="roundRect">
            <a:avLst>
              <a:gd name="adj" fmla="val 5161"/>
            </a:avLst>
          </a:prstGeom>
          <a:solidFill>
            <a:srgbClr val="183049"/>
          </a:solidFill>
          <a:ln w="12700">
            <a:solidFill>
              <a:srgbClr val="2a4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4827960" y="280728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482796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b2a"/>
                </a:solidFill>
                <a:latin typeface="Trebuchet MS"/>
                <a:ea typeface="Trebuchet MS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4809600" y="3337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Trebuchet MS"/>
                <a:ea typeface="Trebuchet MS"/>
              </a:rPr>
              <a:t>Add a dial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4809600" y="3611880"/>
            <a:ext cx="1545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A potentiometer to vary the brightness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6666120" y="2606040"/>
            <a:ext cx="1874160" cy="1416960"/>
          </a:xfrm>
          <a:prstGeom prst="roundRect">
            <a:avLst>
              <a:gd name="adj" fmla="val 5161"/>
            </a:avLst>
          </a:prstGeom>
          <a:solidFill>
            <a:srgbClr val="183049"/>
          </a:solidFill>
          <a:ln w="12700">
            <a:solidFill>
              <a:srgbClr val="2a4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6867000" y="280728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686700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b2a"/>
                </a:solidFill>
                <a:latin typeface="Trebuchet MS"/>
                <a:ea typeface="Trebuchet MS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6849000" y="333756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Trebuchet MS"/>
                <a:ea typeface="Trebuchet MS"/>
              </a:rPr>
              <a:t>Explore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6849000" y="3611880"/>
            <a:ext cx="1545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Calibri"/>
                <a:ea typeface="Calibri"/>
              </a:rPr>
              <a:t>Try an RGB LED, a buzzer, or more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548640" y="425196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  <a:ea typeface="Calibri"/>
              </a:rPr>
              <a:t>Go to  </a:t>
            </a:r>
            <a:r>
              <a:rPr b="1" lang="en-US" sz="1300" spc="-1" strike="noStrike">
                <a:solidFill>
                  <a:srgbClr val="22d3ee"/>
                </a:solidFill>
                <a:latin typeface="Calibri"/>
                <a:ea typeface="Calibri"/>
              </a:rPr>
              <a:t>tinkercad.com → Circuits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2026-05-30T14:19:49Z</dcterms:created>
  <dc:creator>Edge Computing Workshop</dc:creator>
  <dc:description/>
  <dc:language>en-US</dc:language>
  <cp:lastModifiedBy/>
  <dcterms:modified xsi:type="dcterms:W3CDTF">2026-06-01T01:54:39Z</dcterms:modified>
  <cp:revision>2</cp:revision>
  <dc:subject>PptxGenJS Presentation</dc:subject>
  <dc:title>Edge Computing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